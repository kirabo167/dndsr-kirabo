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4300" b="0">
                <a:solidFill>
                  <a:srgbClr val="000000"/>
                </a:solidFill>
                <a:latin typeface="Arial"/>
              </a:defRPr>
            </a:pPr>
            <a:r>
              <a:t>ACM RANS 与 SST-BDF2 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691640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91640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Arial"/>
              </a:defRPr>
            </a:pPr>
            <a:r>
              <a:t>常密度四变量流场 + 独立湍流输运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615184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15184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Arial"/>
              </a:defRPr>
            </a:pPr>
            <a:r>
              <a:t>新增 SST 的两级物理时间历史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3538728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538728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3000" b="0">
                <a:solidFill>
                  <a:srgbClr val="000000"/>
                </a:solidFill>
                <a:latin typeface="Arial"/>
              </a:defRPr>
            </a:pPr>
            <a:r>
              <a:t>二维与三维圆柱算例完成短跑验证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900" b="0">
                <a:solidFill>
                  <a:srgbClr val="525252"/>
                </a:solidFill>
                <a:latin typeface="Arial"/>
              </a:defRPr>
            </a:pPr>
            <a:r>
              <a:t>DNDSR  · 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4400" b="0">
                <a:solidFill>
                  <a:srgbClr val="000000"/>
                </a:solidFill>
                <a:latin typeface="Arial"/>
              </a:defRPr>
            </a:pPr>
            <a:r>
              <a:t>设计约束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600200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00200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流场 U = [u, v, w, p]ᵀ 保持四分量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468880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468880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湍流变量 q 独立存储与输运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3337560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337560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μₜ 进入黏性通量和黏性 CFL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4206240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206240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BDF2 仅开放 Laminar 与 KOmegaSST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5715000"/>
            <a:ext cx="77724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200" b="0">
                <a:solidFill>
                  <a:srgbClr val="525252"/>
                </a:solidFill>
                <a:latin typeface="Arial"/>
              </a:defRPr>
            </a:pPr>
            <a:r>
              <a:t>保留原有 4×4 特征分解与隐式流场矩阵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4400" b="0">
                <a:solidFill>
                  <a:srgbClr val="000000"/>
                </a:solidFill>
                <a:latin typeface="Arial"/>
              </a:defRPr>
            </a:pPr>
            <a:r>
              <a:t>从湍流场到流场残差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0"/>
            <a:ext cx="1417320" cy="932688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100">
                <a:solidFill>
                  <a:srgbClr val="000000"/>
                </a:solidFill>
                <a:latin typeface="Arial"/>
              </a:defRPr>
            </a:pPr>
            <a:r>
              <a:t>流场 U</a:t>
            </a:r>
          </a:p>
        </p:txBody>
      </p:sp>
      <p:sp>
        <p:nvSpPr>
          <p:cNvPr id="4" name="Rectangle 3"/>
          <p:cNvSpPr/>
          <p:nvPr/>
        </p:nvSpPr>
        <p:spPr>
          <a:xfrm>
            <a:off x="2423160" y="1645920"/>
            <a:ext cx="1325880" cy="932688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100">
                <a:solidFill>
                  <a:srgbClr val="000000"/>
                </a:solidFill>
                <a:latin typeface="Arial"/>
              </a:defRPr>
            </a:pPr>
            <a:r>
              <a:t>∇U</a:t>
            </a:r>
          </a:p>
        </p:txBody>
      </p:sp>
      <p:sp>
        <p:nvSpPr>
          <p:cNvPr id="5" name="Rectangle 4"/>
          <p:cNvSpPr/>
          <p:nvPr/>
        </p:nvSpPr>
        <p:spPr>
          <a:xfrm>
            <a:off x="4224528" y="1645920"/>
            <a:ext cx="1691640" cy="932688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100">
                <a:solidFill>
                  <a:srgbClr val="000000"/>
                </a:solidFill>
                <a:latin typeface="Arial"/>
              </a:defRPr>
            </a:pPr>
            <a:r>
              <a:t>闭合 μₜ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1645920"/>
            <a:ext cx="1828800" cy="932688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100">
                <a:solidFill>
                  <a:srgbClr val="000000"/>
                </a:solidFill>
                <a:latin typeface="Arial"/>
              </a:defRPr>
            </a:pPr>
            <a:r>
              <a:t>R_flow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858768"/>
            <a:ext cx="1417320" cy="932688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100">
                <a:solidFill>
                  <a:srgbClr val="000000"/>
                </a:solidFill>
                <a:latin typeface="Arial"/>
              </a:defRPr>
            </a:pPr>
            <a:r>
              <a:t>湍流 q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3858768"/>
            <a:ext cx="1325880" cy="932688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100">
                <a:solidFill>
                  <a:srgbClr val="000000"/>
                </a:solidFill>
                <a:latin typeface="Arial"/>
              </a:defRPr>
            </a:pPr>
            <a:r>
              <a:t>∇q + 壁距 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4528" y="3858768"/>
            <a:ext cx="1691640" cy="932688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100">
                <a:solidFill>
                  <a:srgbClr val="000000"/>
                </a:solidFill>
                <a:latin typeface="Arial"/>
              </a:defRPr>
            </a:pPr>
            <a:r>
              <a:t>R_q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3858768"/>
            <a:ext cx="1828800" cy="932688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100">
                <a:solidFill>
                  <a:srgbClr val="000000"/>
                </a:solidFill>
                <a:latin typeface="Arial"/>
              </a:defRPr>
            </a:pPr>
            <a:r>
              <a:t>SSPRK3 / BDF2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837943"/>
            <a:ext cx="365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050791"/>
            <a:ext cx="365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837943"/>
            <a:ext cx="365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050791"/>
            <a:ext cx="365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837943"/>
            <a:ext cx="365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050791"/>
            <a:ext cx="365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2770632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3100" b="0">
                <a:solidFill>
                  <a:srgbClr val="000000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15584"/>
            <a:ext cx="8001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Arial"/>
              </a:defRPr>
            </a:pPr>
            <a:r>
              <a:t>U 决定对流/生产；q 决定 μₜ，再反馈流场。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4400" b="0">
                <a:solidFill>
                  <a:srgbClr val="000000"/>
                </a:solidFill>
                <a:latin typeface="Arial"/>
              </a:defRPr>
            </a:pPr>
            <a:r>
              <a:t>四种 RANS 闭合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50876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300" b="1">
                <a:solidFill>
                  <a:srgbClr val="000000"/>
                </a:solidFill>
                <a:latin typeface="Arial"/>
              </a:defRPr>
            </a:pPr>
            <a:r>
              <a:t>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508760"/>
            <a:ext cx="1508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300" b="1">
                <a:solidFill>
                  <a:srgbClr val="000000"/>
                </a:solidFill>
                <a:latin typeface="Arial"/>
              </a:defRPr>
            </a:pPr>
            <a:r>
              <a:t>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90288" y="150876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300" b="1">
                <a:solidFill>
                  <a:srgbClr val="000000"/>
                </a:solidFill>
                <a:latin typeface="Arial"/>
              </a:defRPr>
            </a:pPr>
            <a:r>
              <a:t>实现要点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2057400"/>
            <a:ext cx="8046720" cy="109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2258568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300" b="0">
                <a:solidFill>
                  <a:srgbClr val="000000"/>
                </a:solidFill>
                <a:latin typeface="Arial"/>
              </a:defRPr>
            </a:pPr>
            <a:r>
              <a:t>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258568"/>
            <a:ext cx="15087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300" b="0">
                <a:solidFill>
                  <a:srgbClr val="000000"/>
                </a:solidFill>
                <a:latin typeface="Arial"/>
              </a:defRPr>
            </a:pPr>
            <a:r>
              <a:t>ν̃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258568"/>
            <a:ext cx="391363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Arial"/>
              </a:defRPr>
            </a:pPr>
            <a:r>
              <a:t>阻尼涡黏度；壁面破坏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3044952"/>
            <a:ext cx="8046720" cy="1097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172968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300" b="0">
                <a:solidFill>
                  <a:srgbClr val="000000"/>
                </a:solidFill>
                <a:latin typeface="Arial"/>
              </a:defRPr>
            </a:pPr>
            <a:r>
              <a:t>Wilcox k–ω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72968"/>
            <a:ext cx="15087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300" b="0">
                <a:solidFill>
                  <a:srgbClr val="000000"/>
                </a:solidFill>
                <a:latin typeface="Arial"/>
              </a:defRPr>
            </a:pPr>
            <a:r>
              <a:t>k, 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172968"/>
            <a:ext cx="391363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Arial"/>
              </a:defRPr>
            </a:pPr>
            <a:r>
              <a:t>应力限制；交叉扩散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3959352"/>
            <a:ext cx="8046720" cy="1097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087368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300" b="0">
                <a:solidFill>
                  <a:srgbClr val="000000"/>
                </a:solidFill>
                <a:latin typeface="Arial"/>
              </a:defRPr>
            </a:pPr>
            <a:r>
              <a:t>SST k–ω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087368"/>
            <a:ext cx="15087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300" b="0">
                <a:solidFill>
                  <a:srgbClr val="000000"/>
                </a:solidFill>
                <a:latin typeface="Arial"/>
              </a:defRPr>
            </a:pPr>
            <a:r>
              <a:t>k, 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4087368"/>
            <a:ext cx="391363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Arial"/>
              </a:defRPr>
            </a:pPr>
            <a:r>
              <a:t>F₁/F₂ 混合；近壁处理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" y="4873752"/>
            <a:ext cx="8046720" cy="1097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001768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300" b="0">
                <a:solidFill>
                  <a:srgbClr val="000000"/>
                </a:solidFill>
                <a:latin typeface="Arial"/>
              </a:defRPr>
            </a:pPr>
            <a:r>
              <a:t>Realizable k–ε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001768"/>
            <a:ext cx="15087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300" b="0">
                <a:solidFill>
                  <a:srgbClr val="000000"/>
                </a:solidFill>
                <a:latin typeface="Arial"/>
              </a:defRPr>
            </a:pPr>
            <a:r>
              <a:t>k, 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5001768"/>
            <a:ext cx="391363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Arial"/>
              </a:defRPr>
            </a:pPr>
            <a:r>
              <a:t>可实现性限制；低 Re 修正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5788152"/>
            <a:ext cx="8046720" cy="1097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6135624"/>
            <a:ext cx="8092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0">
                <a:solidFill>
                  <a:srgbClr val="525252"/>
                </a:solidFill>
                <a:latin typeface="Arial"/>
              </a:defRPr>
            </a:pPr>
            <a:r>
              <a:t>本次物理时间 BDF2 仅接入 SST；其余模型保留稳态伪时间推进。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4400" b="0">
                <a:solidFill>
                  <a:srgbClr val="000000"/>
                </a:solidFill>
                <a:latin typeface="Arial"/>
              </a:defRPr>
            </a:pPr>
            <a:r>
              <a:t>SST 的空间闭合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536192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μₜ = ρ₀ a₁ k / max(a₁ω, |Ω| F₂)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2313432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Dₖ = (μ + σₖ μₜ) / ρ₀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3090672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Dω = (μ + σω μₜ) / ρ₀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3867911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Sₖ = min(Pₖ, 20 β* kω) − β* kω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4645152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Sω = γS² − βω² + 交叉扩散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586984"/>
            <a:ext cx="7927848" cy="1097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5733288"/>
            <a:ext cx="79735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525252"/>
                </a:solidFill>
                <a:latin typeface="Arial"/>
              </a:defRPr>
            </a:pPr>
            <a:r>
              <a:t>F₁/F₂：连接近壁 k–ω 与远壁模型；壁面 k = 0。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4400" b="0">
                <a:solidFill>
                  <a:srgbClr val="000000"/>
                </a:solidFill>
                <a:latin typeface="Arial"/>
              </a:defRPr>
            </a:pPr>
            <a:r>
              <a:t>BE 启动与 BDF2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508760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第 1 物理步：BE 系数 (1, −1,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350008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50008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第 2 步起：BDF2 系数 (3/2, −2, 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3236976"/>
            <a:ext cx="8010144" cy="1097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429000"/>
            <a:ext cx="7818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600" b="0">
                <a:solidFill>
                  <a:srgbClr val="000000"/>
                </a:solidFill>
                <a:latin typeface="Arial"/>
              </a:defRPr>
            </a:pPr>
            <a:r>
              <a:t>Dₜx = (a₀xⁿ⁺¹ + a₁xⁿ + a₂xⁿ⁻¹) / Δt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4352544"/>
            <a:ext cx="7818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600" b="0">
                <a:solidFill>
                  <a:srgbClr val="000000"/>
                </a:solidFill>
                <a:latin typeface="Arial"/>
              </a:defRPr>
            </a:pPr>
            <a:r>
              <a:t>D_U = R_U − M DₜU，M = diag(1,1,1,0)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5266944"/>
            <a:ext cx="78181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600" b="0">
                <a:solidFill>
                  <a:srgbClr val="000000"/>
                </a:solidFill>
                <a:latin typeface="Arial"/>
              </a:defRPr>
            </a:pPr>
            <a:r>
              <a:t>D_q = R_q − Dₜq，q = (k, ω)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4400" b="0">
                <a:solidFill>
                  <a:srgbClr val="000000"/>
                </a:solidFill>
                <a:latin typeface="Arial"/>
              </a:defRPr>
            </a:pPr>
            <a:r>
              <a:t>双时间内迭代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7784" y="1463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74615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固定 Uⁿ、Uⁿ⁻¹ 与 qⁿ、qⁿ⁻¹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236829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68296"/>
            <a:ext cx="74615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GMRES / LU-SGS 求四变量流场修正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327355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73552"/>
            <a:ext cx="74615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用新流场 SSPRK3 松弛 SST 时间缺陷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417880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178808"/>
            <a:ext cx="74615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重算 μₜ、流场缺陷和湍流缺陷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508406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84064"/>
            <a:ext cx="746150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两种缺陷达标才提前结束；再提交历史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144768"/>
            <a:ext cx="80284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900" b="0">
                <a:solidFill>
                  <a:srgbClr val="525252"/>
                </a:solidFill>
                <a:latin typeface="Arial"/>
              </a:defRPr>
            </a:pPr>
            <a:r>
              <a:t>达到内迭代上限仍可提交物理步；必须检查 converged。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4400" b="0">
                <a:solidFill>
                  <a:srgbClr val="000000"/>
                </a:solidFill>
                <a:latin typeface="Arial"/>
              </a:defRPr>
            </a:pPr>
            <a:r>
              <a:t>代码接入位置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90472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/>
              </a:defRPr>
            </a:pPr>
            <a:r>
              <a:t>ACMBDF2.*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1490472"/>
            <a:ext cx="43159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Arial"/>
              </a:defRPr>
            </a:pPr>
            <a:r>
              <a:t>BE/BDF2 系数与 q 时间导数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79"/>
            <a:ext cx="8001000" cy="1097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/>
              </a:defRPr>
            </a:pPr>
            <a:r>
              <a:t>ACMTurbulenceTransport.*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423160"/>
            <a:ext cx="43159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Arial"/>
              </a:defRPr>
            </a:pPr>
            <a:r>
              <a:t>SST 两级历史、时间缺陷、SSPRK3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72968"/>
            <a:ext cx="8001000" cy="1097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55848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/>
              </a:defRPr>
            </a:pPr>
            <a:r>
              <a:t>ACMSolver.hxx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355848"/>
            <a:ext cx="43159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Arial"/>
              </a:defRPr>
            </a:pPr>
            <a:r>
              <a:t>流场—SST 双时间迭代与历史提交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05656"/>
            <a:ext cx="8001000" cy="1097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88536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/>
              </a:defRPr>
            </a:pPr>
            <a:r>
              <a:t>ACM.cpp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4288536"/>
            <a:ext cx="43159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Arial"/>
              </a:defRPr>
            </a:pPr>
            <a:r>
              <a:t>Laminar / SST 模型范围校验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38344"/>
            <a:ext cx="8001000" cy="1097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221224"/>
            <a:ext cx="35478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/>
              </a:defRPr>
            </a:pPr>
            <a:r>
              <a:t>test_ACMTime.cpp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5221224"/>
            <a:ext cx="43159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Arial"/>
              </a:defRPr>
            </a:pPr>
            <a:r>
              <a:t>解析导数与模型选择回归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971032"/>
            <a:ext cx="8001000" cy="1097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4400" b="0">
                <a:solidFill>
                  <a:srgbClr val="000000"/>
                </a:solidFill>
                <a:latin typeface="Arial"/>
              </a:defRPr>
            </a:pPr>
            <a:r>
              <a:t>验证已完成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508760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ACM BDF2 单测：17/17，89 个断言通过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386584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86584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二维圆柱：GMRES 与 LU-SGS 均完成两步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3264408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64408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三维 Re=3900：4 rank 完成 BE → BDF2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4142232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142232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0">
                <a:solidFill>
                  <a:srgbClr val="000000"/>
                </a:solidFill>
                <a:latin typeface="Arial"/>
              </a:defRPr>
            </a:pPr>
            <a:r>
              <a:t>最终 k、ω 有限且保持正值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138928"/>
            <a:ext cx="8001000" cy="10972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5440680"/>
            <a:ext cx="792784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Arial"/>
              </a:defRPr>
            </a:pPr>
            <a:r>
              <a:t>短跑验证了运行链路，不等于时间精度或充分收敛。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4400" b="0">
                <a:solidFill>
                  <a:srgbClr val="000000"/>
                </a:solidFill>
                <a:latin typeface="Arial"/>
              </a:defRPr>
            </a:pPr>
            <a:r>
              <a:t>当前限制与下一步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1508760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短跑均显示 converged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395728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95728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SST 伪时间输运仍为分离式显式推进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3282696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82696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BDF2 历史尚不能从 VTK-HDF 重启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4169663"/>
            <a:ext cx="29260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169663"/>
            <a:ext cx="772667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Arial"/>
              </a:defRPr>
            </a:pPr>
            <a:r>
              <a:t>需做内迭代、Δt 与网格收敛验证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5742432"/>
            <a:ext cx="7671816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200" b="0">
                <a:solidFill>
                  <a:srgbClr val="525252"/>
                </a:solidFill>
                <a:latin typeface="Arial"/>
              </a:defRPr>
            </a:pPr>
            <a:r>
              <a:t>物理预测还需检验壁面分辨率和升阻力统计。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 常密度 RANS 与 SST-BDF2 实现</dc:title>
  <dc:subject>DNDSR ACM RANS implementation</dc:subject>
  <dc:creator>DNDSR</dc:creator>
  <cp:keywords/>
  <dc:description>generated using python-pptx</dc:description>
  <cp:lastModifiedBy>DNDSR</cp:lastModifiedBy>
  <cp:revision>1</cp:revision>
  <dcterms:created xsi:type="dcterms:W3CDTF">2026-10-07T17:28:56Z</dcterms:created>
  <dcterms:modified xsi:type="dcterms:W3CDTF">2026-10-07T17:28:56Z</dcterms:modified>
  <cp:category/>
</cp:coreProperties>
</file>